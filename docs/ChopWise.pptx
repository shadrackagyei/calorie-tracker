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73485"/>
            <a:ext cx="319980" cy="3199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7280" y="952500"/>
            <a:ext cx="14521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ChopWise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4750951" y="952500"/>
            <a:ext cx="24702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PRE-SEED ·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2814638"/>
            <a:ext cx="85620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CALORIE TRACKING, BUILT FOR GHANA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3348038"/>
            <a:ext cx="8562025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0" b="1" spc="-18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Snap your meal. Get the calories. </a:t>
            </a:r>
            <a:pPr algn="l" indent="0" marL="0">
              <a:lnSpc>
                <a:spcPct val="105000"/>
              </a:lnSpc>
              <a:buNone/>
            </a:pPr>
            <a:r>
              <a:rPr lang="en-US" sz="7200" b="1" spc="-180" kern="0" dirty="0">
                <a:solidFill>
                  <a:srgbClr val="D462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 your kitchen.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1143000" y="6510338"/>
            <a:ext cx="7063740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first calorie tracker that recognizes jollof, banku, fufu and waakye — not just burgers and burritos.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11585674" y="1314450"/>
            <a:ext cx="4191000" cy="8382000"/>
          </a:xfrm>
          <a:prstGeom prst="roundRect">
            <a:avLst>
              <a:gd name="adj" fmla="val 11818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680924" y="1409700"/>
            <a:ext cx="4000500" cy="8191500"/>
          </a:xfrm>
          <a:prstGeom prst="roundRect">
            <a:avLst>
              <a:gd name="adj" fmla="val 10476"/>
            </a:avLst>
          </a:prstGeom>
          <a:solidFill>
            <a:srgbClr val="FAF8F5"/>
          </a:solidFill>
          <a:ln/>
        </p:spPr>
      </p:sp>
      <p:sp>
        <p:nvSpPr>
          <p:cNvPr id="10" name="Shape 7"/>
          <p:cNvSpPr/>
          <p:nvPr/>
        </p:nvSpPr>
        <p:spPr>
          <a:xfrm>
            <a:off x="13157299" y="154305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1" name="Text 8"/>
          <p:cNvSpPr/>
          <p:nvPr/>
        </p:nvSpPr>
        <p:spPr>
          <a:xfrm>
            <a:off x="11966674" y="1781175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195649" y="1800225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219462" y="1824038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80924" y="1409700"/>
            <a:ext cx="4000500" cy="8858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680924" y="2076450"/>
            <a:ext cx="4000500" cy="2667000"/>
          </a:xfrm>
          <a:prstGeom prst="rect">
            <a:avLst/>
          </a:prstGeom>
          <a:solidFill>
            <a:srgbClr val="FAF8F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424" y="2362200"/>
            <a:ext cx="2095500" cy="2095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947624" y="4972050"/>
            <a:ext cx="35711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IDENTIFIED · 98% CONFIDENCE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11947624" y="5181600"/>
            <a:ext cx="35711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Jollof Rice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11947624" y="5600700"/>
            <a:ext cx="96232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612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12909947" y="5905500"/>
            <a:ext cx="3836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kcal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11947624" y="6343650"/>
            <a:ext cx="1092101" cy="762000"/>
          </a:xfrm>
          <a:prstGeom prst="roundRect">
            <a:avLst>
              <a:gd name="adj" fmla="val 17500"/>
            </a:avLst>
          </a:prstGeom>
          <a:solidFill>
            <a:srgbClr val="FAF8F5"/>
          </a:solidFill>
          <a:ln/>
        </p:spPr>
      </p:sp>
      <p:sp>
        <p:nvSpPr>
          <p:cNvPr id="22" name="Text 18"/>
          <p:cNvSpPr/>
          <p:nvPr/>
        </p:nvSpPr>
        <p:spPr>
          <a:xfrm>
            <a:off x="12061924" y="6477000"/>
            <a:ext cx="93970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CARBS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12061924" y="6638925"/>
            <a:ext cx="9397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78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12061924" y="6943725"/>
            <a:ext cx="863501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25" name="Shape 21"/>
          <p:cNvSpPr/>
          <p:nvPr/>
        </p:nvSpPr>
        <p:spPr>
          <a:xfrm>
            <a:off x="12061924" y="6943725"/>
            <a:ext cx="604391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6" name="Shape 22"/>
          <p:cNvSpPr/>
          <p:nvPr/>
        </p:nvSpPr>
        <p:spPr>
          <a:xfrm>
            <a:off x="13134975" y="6343650"/>
            <a:ext cx="1092250" cy="762000"/>
          </a:xfrm>
          <a:prstGeom prst="roundRect">
            <a:avLst>
              <a:gd name="adj" fmla="val 17500"/>
            </a:avLst>
          </a:prstGeom>
          <a:solidFill>
            <a:srgbClr val="FAF8F5"/>
          </a:solidFill>
          <a:ln/>
        </p:spPr>
      </p:sp>
      <p:sp>
        <p:nvSpPr>
          <p:cNvPr id="27" name="Text 23"/>
          <p:cNvSpPr/>
          <p:nvPr/>
        </p:nvSpPr>
        <p:spPr>
          <a:xfrm>
            <a:off x="13249275" y="6477000"/>
            <a:ext cx="9398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PROTEIN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13249275" y="6638925"/>
            <a:ext cx="939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22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29" name="Shape 25"/>
          <p:cNvSpPr/>
          <p:nvPr/>
        </p:nvSpPr>
        <p:spPr>
          <a:xfrm>
            <a:off x="13249275" y="6943725"/>
            <a:ext cx="863650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30" name="Shape 26"/>
          <p:cNvSpPr/>
          <p:nvPr/>
        </p:nvSpPr>
        <p:spPr>
          <a:xfrm>
            <a:off x="13249275" y="6943725"/>
            <a:ext cx="604540" cy="28575"/>
          </a:xfrm>
          <a:prstGeom prst="rect">
            <a:avLst/>
          </a:prstGeom>
          <a:solidFill>
            <a:srgbClr val="3A6B3F"/>
          </a:solidFill>
          <a:ln/>
        </p:spPr>
      </p:sp>
      <p:sp>
        <p:nvSpPr>
          <p:cNvPr id="31" name="Shape 27"/>
          <p:cNvSpPr/>
          <p:nvPr/>
        </p:nvSpPr>
        <p:spPr>
          <a:xfrm>
            <a:off x="14322475" y="6343650"/>
            <a:ext cx="1092250" cy="762000"/>
          </a:xfrm>
          <a:prstGeom prst="roundRect">
            <a:avLst>
              <a:gd name="adj" fmla="val 17500"/>
            </a:avLst>
          </a:prstGeom>
          <a:solidFill>
            <a:srgbClr val="FAF8F5"/>
          </a:solidFill>
          <a:ln/>
        </p:spPr>
      </p:sp>
      <p:sp>
        <p:nvSpPr>
          <p:cNvPr id="32" name="Text 28"/>
          <p:cNvSpPr/>
          <p:nvPr/>
        </p:nvSpPr>
        <p:spPr>
          <a:xfrm>
            <a:off x="14436775" y="6477000"/>
            <a:ext cx="9398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FAT</a:t>
            </a:r>
            <a:endParaRPr lang="en-US" sz="825" dirty="0"/>
          </a:p>
        </p:txBody>
      </p:sp>
      <p:sp>
        <p:nvSpPr>
          <p:cNvPr id="33" name="Text 29"/>
          <p:cNvSpPr/>
          <p:nvPr/>
        </p:nvSpPr>
        <p:spPr>
          <a:xfrm>
            <a:off x="14436775" y="6638925"/>
            <a:ext cx="939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34" name="Shape 30"/>
          <p:cNvSpPr/>
          <p:nvPr/>
        </p:nvSpPr>
        <p:spPr>
          <a:xfrm>
            <a:off x="14436775" y="6943725"/>
            <a:ext cx="863650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35" name="Shape 31"/>
          <p:cNvSpPr/>
          <p:nvPr/>
        </p:nvSpPr>
        <p:spPr>
          <a:xfrm>
            <a:off x="14436775" y="6943725"/>
            <a:ext cx="604540" cy="28575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36" name="Shape 32"/>
          <p:cNvSpPr/>
          <p:nvPr/>
        </p:nvSpPr>
        <p:spPr>
          <a:xfrm>
            <a:off x="11947624" y="7277100"/>
            <a:ext cx="3467100" cy="476250"/>
          </a:xfrm>
          <a:prstGeom prst="roundRect">
            <a:avLst>
              <a:gd name="adj" fmla="val 32000"/>
            </a:avLst>
          </a:prstGeom>
          <a:solidFill>
            <a:srgbClr val="0A0A0A"/>
          </a:solidFill>
          <a:ln/>
        </p:spPr>
      </p:sp>
      <p:sp>
        <p:nvSpPr>
          <p:cNvPr id="37" name="Text 33"/>
          <p:cNvSpPr/>
          <p:nvPr/>
        </p:nvSpPr>
        <p:spPr>
          <a:xfrm>
            <a:off x="12048018" y="7429500"/>
            <a:ext cx="32663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 to today</a:t>
            </a:r>
            <a:endParaRPr lang="en-US" sz="1125" dirty="0"/>
          </a:p>
        </p:txBody>
      </p:sp>
      <p:sp>
        <p:nvSpPr>
          <p:cNvPr id="38" name="Text 34"/>
          <p:cNvSpPr/>
          <p:nvPr/>
        </p:nvSpPr>
        <p:spPr>
          <a:xfrm>
            <a:off x="1143000" y="9696450"/>
            <a:ext cx="27175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Pitch deck · April 2026</a:t>
            </a:r>
            <a:endParaRPr lang="en-US" sz="2100" dirty="0"/>
          </a:p>
        </p:txBody>
      </p:sp>
      <p:sp>
        <p:nvSpPr>
          <p:cNvPr id="39" name="Text 35"/>
          <p:cNvSpPr/>
          <p:nvPr/>
        </p:nvSpPr>
        <p:spPr>
          <a:xfrm>
            <a:off x="16027747" y="9744075"/>
            <a:ext cx="11934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01 / 12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PROBLEM · CONTEXT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37350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Ghana is in the middle of a nutrition transition.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619375"/>
            <a:ext cx="12753975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Urbanization, sedentary work, and a shift toward processed foods have pushed obesity from a rare condition to a population-scale health risk.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143000" y="450532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791075"/>
            <a:ext cx="518007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50%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1143000" y="6353175"/>
            <a:ext cx="51800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 Ghanaian women aged 20–49 are overweight or obese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7324725"/>
            <a:ext cx="51800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 from 40% in 2014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7848600"/>
            <a:ext cx="51800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Ghana DHS, 2022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29400" y="450532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4791075"/>
            <a:ext cx="518007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18.8%</a:t>
            </a:r>
            <a:endParaRPr lang="en-US" sz="10500" dirty="0"/>
          </a:p>
        </p:txBody>
      </p:sp>
      <p:sp>
        <p:nvSpPr>
          <p:cNvPr id="12" name="Text 10"/>
          <p:cNvSpPr/>
          <p:nvPr/>
        </p:nvSpPr>
        <p:spPr>
          <a:xfrm>
            <a:off x="6629400" y="6353175"/>
            <a:ext cx="518007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 women now live with obesity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629400" y="6896100"/>
            <a:ext cx="51800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doubled from 9.3% in 2008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29400" y="7419975"/>
            <a:ext cx="51800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Ghana DHS, pooled 2008–2022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115800" y="450532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12115800" y="4791075"/>
            <a:ext cx="518007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+6 pts</a:t>
            </a:r>
            <a:endParaRPr lang="en-US" sz="10500" dirty="0"/>
          </a:p>
        </p:txBody>
      </p:sp>
      <p:sp>
        <p:nvSpPr>
          <p:cNvPr id="17" name="Text 15"/>
          <p:cNvSpPr/>
          <p:nvPr/>
        </p:nvSpPr>
        <p:spPr>
          <a:xfrm>
            <a:off x="12115800" y="6353175"/>
            <a:ext cx="51800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sharper increase in overweight &amp; obesity since 2017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115800" y="7324725"/>
            <a:ext cx="51800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driven by urbanization and diet shifts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15800" y="7848600"/>
            <a:ext cx="51800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PLOS Glob Public Health, 2024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02 / 12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PROBLEM · THE GAP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4716125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None of these dishes exist in mainstream calorie databases.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257550"/>
            <a:ext cx="13735050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Search "banku" in MyFitnessPal: zero verified entries. The FAO West Africa Food Composition Table covers ~1,000 raw ingredients — but no composite dishes. There is no systematic database of prepared Ghanaian food.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143000" y="5324475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363" y="5495925"/>
            <a:ext cx="1047750" cy="1047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08188" y="6638925"/>
            <a:ext cx="1269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Jollof Rice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502247" y="7048500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26072" y="7115175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10175" y="5324475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538" y="5495925"/>
            <a:ext cx="1047750" cy="1047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81874" y="6638925"/>
            <a:ext cx="18570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Banku &amp; Tilapia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6569422" y="7048500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93247" y="7115175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277350" y="5324475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713" y="5495925"/>
            <a:ext cx="1047750" cy="1047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80650" y="6638925"/>
            <a:ext cx="9937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Waakye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10636597" y="7048500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760422" y="7115175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3344525" y="5324475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0887" y="5495925"/>
            <a:ext cx="1047750" cy="1047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5135" y="6638925"/>
            <a:ext cx="21392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Fufu &amp; Light Soup</a:t>
            </a:r>
            <a:endParaRPr lang="en-US" sz="2100" dirty="0"/>
          </a:p>
        </p:txBody>
      </p:sp>
      <p:sp>
        <p:nvSpPr>
          <p:cNvPr id="23" name="Shape 17"/>
          <p:cNvSpPr/>
          <p:nvPr/>
        </p:nvSpPr>
        <p:spPr>
          <a:xfrm>
            <a:off x="14703772" y="7048500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4827597" y="7115175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143000" y="7791450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363" y="7962900"/>
            <a:ext cx="1047750" cy="1047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36725" y="9105900"/>
            <a:ext cx="181302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Kenkey &amp; Shito</a:t>
            </a:r>
            <a:endParaRPr lang="en-US" sz="2100" dirty="0"/>
          </a:p>
        </p:txBody>
      </p:sp>
      <p:sp>
        <p:nvSpPr>
          <p:cNvPr id="28" name="Shape 21"/>
          <p:cNvSpPr/>
          <p:nvPr/>
        </p:nvSpPr>
        <p:spPr>
          <a:xfrm>
            <a:off x="2502247" y="9515475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626072" y="9582150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210175" y="7791450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538" y="7962900"/>
            <a:ext cx="1047750" cy="10477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53051" y="9105900"/>
            <a:ext cx="11145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Kelewele</a:t>
            </a:r>
            <a:endParaRPr lang="en-US" sz="2100" dirty="0"/>
          </a:p>
        </p:txBody>
      </p:sp>
      <p:sp>
        <p:nvSpPr>
          <p:cNvPr id="33" name="Shape 25"/>
          <p:cNvSpPr/>
          <p:nvPr/>
        </p:nvSpPr>
        <p:spPr>
          <a:xfrm>
            <a:off x="6569422" y="9515475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693247" y="9582150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9277350" y="7791450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3713" y="7962900"/>
            <a:ext cx="1047750" cy="10477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474821" y="9105900"/>
            <a:ext cx="14053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TZ &amp; Ayoyo</a:t>
            </a:r>
            <a:endParaRPr lang="en-US" sz="2100" dirty="0"/>
          </a:p>
        </p:txBody>
      </p:sp>
      <p:sp>
        <p:nvSpPr>
          <p:cNvPr id="38" name="Shape 29"/>
          <p:cNvSpPr/>
          <p:nvPr/>
        </p:nvSpPr>
        <p:spPr>
          <a:xfrm>
            <a:off x="10636597" y="9515475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0760422" y="9582150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13344525" y="7791450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0887" y="7962900"/>
            <a:ext cx="1047750" cy="104775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4295537" y="9105900"/>
            <a:ext cx="18983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Kontomire Stew</a:t>
            </a:r>
            <a:endParaRPr lang="en-US" sz="2100" dirty="0"/>
          </a:p>
        </p:txBody>
      </p:sp>
      <p:sp>
        <p:nvSpPr>
          <p:cNvPr id="43" name="Shape 33"/>
          <p:cNvSpPr/>
          <p:nvPr/>
        </p:nvSpPr>
        <p:spPr>
          <a:xfrm>
            <a:off x="14703772" y="9515475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14827597" y="9582150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03 / 12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PROBLEM · WHY INCUMBENTS CAN'T FIX THIS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4716125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 structural reasons mainstream apps fail Ghanaian users.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371850"/>
            <a:ext cx="1219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90800" y="3371850"/>
            <a:ext cx="63573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Western training data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590800" y="4019550"/>
            <a:ext cx="6357366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Computer-vision models for Cal AI and Foodvisor are trained on US/EU food photography. They mistake fufu for mashed potatoes, banku for an egg, and kelewele for sweet-potato fries.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0" y="3371850"/>
            <a:ext cx="1219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0" y="3371850"/>
            <a:ext cx="63573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Composite dishes have no entries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972800" y="4019550"/>
            <a:ext cx="6357366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WAFCT 2019 lists raw cassava and raw fish. It does not list "banku &amp; tilapia" with a known portion size — the form Ghanaians actually eat.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5962650"/>
            <a:ext cx="1219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90800" y="5962650"/>
            <a:ext cx="63573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Wrong portion mental models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590800" y="6610350"/>
            <a:ext cx="6357366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"serving of rice" in MyFitnessPal is 158g. A normal jollof plate in Accra is 350–500g, often with a side. Logging is wrong from the first tap.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0" y="5962650"/>
            <a:ext cx="1219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972800" y="5962650"/>
            <a:ext cx="63573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local context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972800" y="6610350"/>
            <a:ext cx="6357366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street-food entries (kelewele, koose, bofrot). No regional variants (waakye in Tamale vs Accra). No mapping to local portion vocabulary ("one ball", "half olonka").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04 / 12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376363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909762"/>
            <a:ext cx="7750492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16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Point. Snap. Logged.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4005262"/>
            <a:ext cx="70637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spc="-33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ChopWise recognizes Ghanaian dishes from a single photo and returns calories, macros, and portion size — instantly.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143000" y="6843713"/>
            <a:ext cx="114300" cy="114300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6710363"/>
            <a:ext cx="58472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Trained on Ghanaian food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562100" y="7129463"/>
            <a:ext cx="58472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tens of thousands of locally-sourced photos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7767637"/>
            <a:ext cx="114300" cy="114300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7634288"/>
            <a:ext cx="58472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Built for street and home cooking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562100" y="8053387"/>
            <a:ext cx="58472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kelewele, koose, waakye stands, family pots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8691563"/>
            <a:ext cx="114300" cy="114300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12" name="Text 10"/>
          <p:cNvSpPr/>
          <p:nvPr/>
        </p:nvSpPr>
        <p:spPr>
          <a:xfrm>
            <a:off x="1562100" y="8558213"/>
            <a:ext cx="58472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Works offline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562100" y="8977313"/>
            <a:ext cx="58472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designed for 3G and intermittent connectivity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191875" y="952500"/>
            <a:ext cx="4381500" cy="8763000"/>
          </a:xfrm>
          <a:prstGeom prst="roundRect">
            <a:avLst>
              <a:gd name="adj" fmla="val 11304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87125" y="1047750"/>
            <a:ext cx="4191000" cy="85725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58750" y="118110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11572875" y="1419225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992350" y="1438275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16163" y="1462088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87125" y="1047750"/>
            <a:ext cx="4191000" cy="923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9525" y="1714500"/>
            <a:ext cx="3886200" cy="7334250"/>
          </a:xfrm>
          <a:prstGeom prst="roundRect">
            <a:avLst>
              <a:gd name="adj" fmla="val 6863"/>
            </a:avLst>
          </a:prstGeom>
          <a:solidFill>
            <a:srgbClr val="1A181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5775" y="3894772"/>
            <a:ext cx="2933700" cy="29337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1706225" y="1981200"/>
            <a:ext cx="333375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4" name="Shape 21"/>
          <p:cNvSpPr/>
          <p:nvPr/>
        </p:nvSpPr>
        <p:spPr>
          <a:xfrm>
            <a:off x="11706225" y="1981200"/>
            <a:ext cx="28575" cy="3333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5" name="Shape 22"/>
          <p:cNvSpPr/>
          <p:nvPr/>
        </p:nvSpPr>
        <p:spPr>
          <a:xfrm>
            <a:off x="14725650" y="1981200"/>
            <a:ext cx="333375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6" name="Shape 23"/>
          <p:cNvSpPr/>
          <p:nvPr/>
        </p:nvSpPr>
        <p:spPr>
          <a:xfrm>
            <a:off x="15030450" y="1981200"/>
            <a:ext cx="28575" cy="3333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7" name="Shape 24"/>
          <p:cNvSpPr/>
          <p:nvPr/>
        </p:nvSpPr>
        <p:spPr>
          <a:xfrm>
            <a:off x="11706225" y="8753475"/>
            <a:ext cx="333375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8" name="Shape 25"/>
          <p:cNvSpPr/>
          <p:nvPr/>
        </p:nvSpPr>
        <p:spPr>
          <a:xfrm>
            <a:off x="11706225" y="8448675"/>
            <a:ext cx="28575" cy="3333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9" name="Shape 26"/>
          <p:cNvSpPr/>
          <p:nvPr/>
        </p:nvSpPr>
        <p:spPr>
          <a:xfrm>
            <a:off x="14725650" y="8753475"/>
            <a:ext cx="333375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30" name="Shape 27"/>
          <p:cNvSpPr/>
          <p:nvPr/>
        </p:nvSpPr>
        <p:spPr>
          <a:xfrm>
            <a:off x="15030450" y="8448675"/>
            <a:ext cx="28575" cy="3333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31" name="Shape 28"/>
          <p:cNvSpPr/>
          <p:nvPr/>
        </p:nvSpPr>
        <p:spPr>
          <a:xfrm>
            <a:off x="12663488" y="1943100"/>
            <a:ext cx="1440507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2796838" y="2057400"/>
            <a:ext cx="76200" cy="76200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33" name="Text 30"/>
          <p:cNvSpPr/>
          <p:nvPr/>
        </p:nvSpPr>
        <p:spPr>
          <a:xfrm>
            <a:off x="12949238" y="2019300"/>
            <a:ext cx="109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Identifying dish…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12144375" y="94583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E4DE"/>
          </a:solidFill>
          <a:ln/>
        </p:spPr>
      </p:sp>
      <p:sp>
        <p:nvSpPr>
          <p:cNvPr id="35" name="Shape 32"/>
          <p:cNvSpPr/>
          <p:nvPr/>
        </p:nvSpPr>
        <p:spPr>
          <a:xfrm>
            <a:off x="12944475" y="9229725"/>
            <a:ext cx="876300" cy="8763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3020675" y="9305925"/>
            <a:ext cx="723900" cy="723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7" name="Shape 34"/>
          <p:cNvSpPr/>
          <p:nvPr/>
        </p:nvSpPr>
        <p:spPr>
          <a:xfrm>
            <a:off x="14201775" y="94583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E4DE"/>
          </a:solidFill>
          <a:ln/>
        </p:spPr>
      </p:sp>
      <p:sp>
        <p:nvSpPr>
          <p:cNvPr id="38" name="Text 35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4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05 / 12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PRODUCT · END-TO-END 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648206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 taps from plate to logged.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228850" y="2466975"/>
            <a:ext cx="2857500" cy="5715000"/>
          </a:xfrm>
          <a:prstGeom prst="roundRect">
            <a:avLst>
              <a:gd name="adj" fmla="val 17333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24100" y="2562225"/>
            <a:ext cx="2667000" cy="5524500"/>
          </a:xfrm>
          <a:prstGeom prst="roundRect">
            <a:avLst>
              <a:gd name="adj" fmla="val 15714"/>
            </a:avLst>
          </a:prstGeom>
          <a:solidFill>
            <a:srgbClr val="FAF8F5"/>
          </a:solidFill>
          <a:ln/>
        </p:spPr>
      </p:sp>
      <p:sp>
        <p:nvSpPr>
          <p:cNvPr id="6" name="Shape 4"/>
          <p:cNvSpPr/>
          <p:nvPr/>
        </p:nvSpPr>
        <p:spPr>
          <a:xfrm>
            <a:off x="3133725" y="26955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2609850" y="2933700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05325" y="2952750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9138" y="2976563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10" name="Shape 8"/>
          <p:cNvSpPr/>
          <p:nvPr/>
        </p:nvSpPr>
        <p:spPr>
          <a:xfrm>
            <a:off x="2324100" y="2562225"/>
            <a:ext cx="2667000" cy="619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476500" y="3228975"/>
            <a:ext cx="2362200" cy="4286250"/>
          </a:xfrm>
          <a:prstGeom prst="roundRect">
            <a:avLst>
              <a:gd name="adj" fmla="val 11290"/>
            </a:avLst>
          </a:prstGeom>
          <a:solidFill>
            <a:srgbClr val="1A181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3885247"/>
            <a:ext cx="2933700" cy="29337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43200" y="3495675"/>
            <a:ext cx="333375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0" y="3495675"/>
            <a:ext cx="28575" cy="3333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15" name="Shape 12"/>
          <p:cNvSpPr/>
          <p:nvPr/>
        </p:nvSpPr>
        <p:spPr>
          <a:xfrm>
            <a:off x="4238625" y="3495675"/>
            <a:ext cx="333375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3425" y="3495675"/>
            <a:ext cx="28575" cy="3333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0" y="7219950"/>
            <a:ext cx="333375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18" name="Shape 15"/>
          <p:cNvSpPr/>
          <p:nvPr/>
        </p:nvSpPr>
        <p:spPr>
          <a:xfrm>
            <a:off x="2743200" y="6915150"/>
            <a:ext cx="28575" cy="3333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19" name="Shape 16"/>
          <p:cNvSpPr/>
          <p:nvPr/>
        </p:nvSpPr>
        <p:spPr>
          <a:xfrm>
            <a:off x="4238625" y="7219950"/>
            <a:ext cx="333375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0" name="Shape 17"/>
          <p:cNvSpPr/>
          <p:nvPr/>
        </p:nvSpPr>
        <p:spPr>
          <a:xfrm>
            <a:off x="4543425" y="6915150"/>
            <a:ext cx="28575" cy="3333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1" name="Shape 18"/>
          <p:cNvSpPr/>
          <p:nvPr/>
        </p:nvSpPr>
        <p:spPr>
          <a:xfrm>
            <a:off x="3067050" y="3457575"/>
            <a:ext cx="11811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200400" y="3648075"/>
            <a:ext cx="58192" cy="76200"/>
          </a:xfrm>
          <a:prstGeom prst="ellipse">
            <a:avLst/>
          </a:prstGeom>
          <a:solidFill>
            <a:srgbClr val="D4622A"/>
          </a:solidFill>
          <a:ln/>
        </p:spPr>
      </p:sp>
      <p:sp>
        <p:nvSpPr>
          <p:cNvPr id="23" name="Text 20"/>
          <p:cNvSpPr/>
          <p:nvPr/>
        </p:nvSpPr>
        <p:spPr>
          <a:xfrm>
            <a:off x="3334792" y="3533775"/>
            <a:ext cx="7083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Identifying dish…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2419350" y="7924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E4DE"/>
          </a:solidFill>
          <a:ln/>
        </p:spPr>
      </p:sp>
      <p:sp>
        <p:nvSpPr>
          <p:cNvPr id="25" name="Shape 22"/>
          <p:cNvSpPr/>
          <p:nvPr/>
        </p:nvSpPr>
        <p:spPr>
          <a:xfrm>
            <a:off x="3219450" y="7696200"/>
            <a:ext cx="876300" cy="8763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95650" y="7772400"/>
            <a:ext cx="723900" cy="723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7" name="Shape 24"/>
          <p:cNvSpPr/>
          <p:nvPr/>
        </p:nvSpPr>
        <p:spPr>
          <a:xfrm>
            <a:off x="4476750" y="7924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E4DE"/>
          </a:solidFill>
          <a:ln/>
        </p:spPr>
      </p:sp>
      <p:sp>
        <p:nvSpPr>
          <p:cNvPr id="28" name="Shape 25"/>
          <p:cNvSpPr/>
          <p:nvPr/>
        </p:nvSpPr>
        <p:spPr>
          <a:xfrm>
            <a:off x="2949625" y="8467725"/>
            <a:ext cx="342900" cy="342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9" name="Text 26"/>
          <p:cNvSpPr/>
          <p:nvPr/>
        </p:nvSpPr>
        <p:spPr>
          <a:xfrm>
            <a:off x="2911525" y="846772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3387775" y="8391525"/>
            <a:ext cx="101590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Snap</a:t>
            </a:r>
            <a:endParaRPr lang="en-US" sz="3300" dirty="0"/>
          </a:p>
        </p:txBody>
      </p:sp>
      <p:sp>
        <p:nvSpPr>
          <p:cNvPr id="31" name="Text 28"/>
          <p:cNvSpPr/>
          <p:nvPr/>
        </p:nvSpPr>
        <p:spPr>
          <a:xfrm>
            <a:off x="1597343" y="9001125"/>
            <a:ext cx="412051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 ChopWise, point at the plate, tap once. No menu hunting, no manual entry.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7715250" y="2466975"/>
            <a:ext cx="2857500" cy="5715000"/>
          </a:xfrm>
          <a:prstGeom prst="roundRect">
            <a:avLst>
              <a:gd name="adj" fmla="val 17333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810500" y="2562225"/>
            <a:ext cx="2667000" cy="5524500"/>
          </a:xfrm>
          <a:prstGeom prst="roundRect">
            <a:avLst>
              <a:gd name="adj" fmla="val 15714"/>
            </a:avLst>
          </a:prstGeom>
          <a:solidFill>
            <a:srgbClr val="FAF8F5"/>
          </a:solidFill>
          <a:ln/>
        </p:spPr>
      </p:sp>
      <p:sp>
        <p:nvSpPr>
          <p:cNvPr id="34" name="Shape 31"/>
          <p:cNvSpPr/>
          <p:nvPr/>
        </p:nvSpPr>
        <p:spPr>
          <a:xfrm>
            <a:off x="8620125" y="26955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5" name="Text 32"/>
          <p:cNvSpPr/>
          <p:nvPr/>
        </p:nvSpPr>
        <p:spPr>
          <a:xfrm>
            <a:off x="8096250" y="2933700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991725" y="2952750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15538" y="2976563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38" name="Shape 35"/>
          <p:cNvSpPr/>
          <p:nvPr/>
        </p:nvSpPr>
        <p:spPr>
          <a:xfrm>
            <a:off x="7810500" y="2562225"/>
            <a:ext cx="2667000" cy="619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7810500" y="3228975"/>
            <a:ext cx="2667000" cy="2514600"/>
          </a:xfrm>
          <a:prstGeom prst="rect">
            <a:avLst/>
          </a:prstGeom>
          <a:solidFill>
            <a:srgbClr val="FAF8F5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0" y="3438525"/>
            <a:ext cx="2095500" cy="20955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077200" y="5972175"/>
            <a:ext cx="2209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IDENTIFIED · 98% CONFIDENCE</a:t>
            </a:r>
            <a:endParaRPr lang="en-US" sz="975" dirty="0"/>
          </a:p>
        </p:txBody>
      </p:sp>
      <p:sp>
        <p:nvSpPr>
          <p:cNvPr id="42" name="Text 38"/>
          <p:cNvSpPr/>
          <p:nvPr/>
        </p:nvSpPr>
        <p:spPr>
          <a:xfrm>
            <a:off x="8077200" y="6181725"/>
            <a:ext cx="2209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Kelewele</a:t>
            </a:r>
            <a:endParaRPr lang="en-US" sz="1950" dirty="0"/>
          </a:p>
        </p:txBody>
      </p:sp>
      <p:sp>
        <p:nvSpPr>
          <p:cNvPr id="43" name="Text 39"/>
          <p:cNvSpPr/>
          <p:nvPr/>
        </p:nvSpPr>
        <p:spPr>
          <a:xfrm>
            <a:off x="8077200" y="6600825"/>
            <a:ext cx="974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318</a:t>
            </a:r>
            <a:endParaRPr lang="en-US" sz="4200" dirty="0"/>
          </a:p>
        </p:txBody>
      </p:sp>
      <p:sp>
        <p:nvSpPr>
          <p:cNvPr id="44" name="Text 40"/>
          <p:cNvSpPr/>
          <p:nvPr/>
        </p:nvSpPr>
        <p:spPr>
          <a:xfrm>
            <a:off x="9052024" y="6905625"/>
            <a:ext cx="3836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kcal</a:t>
            </a:r>
            <a:endParaRPr lang="en-US" sz="1350" dirty="0"/>
          </a:p>
        </p:txBody>
      </p:sp>
      <p:sp>
        <p:nvSpPr>
          <p:cNvPr id="45" name="Shape 41"/>
          <p:cNvSpPr/>
          <p:nvPr/>
        </p:nvSpPr>
        <p:spPr>
          <a:xfrm>
            <a:off x="8077200" y="7343775"/>
            <a:ext cx="617637" cy="762000"/>
          </a:xfrm>
          <a:prstGeom prst="roundRect">
            <a:avLst>
              <a:gd name="adj" fmla="val 21590"/>
            </a:avLst>
          </a:prstGeom>
          <a:solidFill>
            <a:srgbClr val="FAF8F5"/>
          </a:solidFill>
          <a:ln/>
        </p:spPr>
      </p:sp>
      <p:sp>
        <p:nvSpPr>
          <p:cNvPr id="46" name="Text 42"/>
          <p:cNvSpPr/>
          <p:nvPr/>
        </p:nvSpPr>
        <p:spPr>
          <a:xfrm>
            <a:off x="8191500" y="7477125"/>
            <a:ext cx="46523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CARBS</a:t>
            </a:r>
            <a:endParaRPr lang="en-US" sz="825" dirty="0"/>
          </a:p>
        </p:txBody>
      </p:sp>
      <p:sp>
        <p:nvSpPr>
          <p:cNvPr id="47" name="Text 43"/>
          <p:cNvSpPr/>
          <p:nvPr/>
        </p:nvSpPr>
        <p:spPr>
          <a:xfrm>
            <a:off x="8191500" y="7639050"/>
            <a:ext cx="465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78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48" name="Shape 44"/>
          <p:cNvSpPr/>
          <p:nvPr/>
        </p:nvSpPr>
        <p:spPr>
          <a:xfrm>
            <a:off x="8191500" y="7943850"/>
            <a:ext cx="389037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49" name="Shape 45"/>
          <p:cNvSpPr/>
          <p:nvPr/>
        </p:nvSpPr>
        <p:spPr>
          <a:xfrm>
            <a:off x="8191500" y="7943850"/>
            <a:ext cx="272207" cy="28575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50" name="Shape 46"/>
          <p:cNvSpPr/>
          <p:nvPr/>
        </p:nvSpPr>
        <p:spPr>
          <a:xfrm>
            <a:off x="8790087" y="7343775"/>
            <a:ext cx="732383" cy="762000"/>
          </a:xfrm>
          <a:prstGeom prst="roundRect">
            <a:avLst>
              <a:gd name="adj" fmla="val 18208"/>
            </a:avLst>
          </a:prstGeom>
          <a:solidFill>
            <a:srgbClr val="FAF8F5"/>
          </a:solidFill>
          <a:ln/>
        </p:spPr>
      </p:sp>
      <p:sp>
        <p:nvSpPr>
          <p:cNvPr id="51" name="Text 47"/>
          <p:cNvSpPr/>
          <p:nvPr/>
        </p:nvSpPr>
        <p:spPr>
          <a:xfrm>
            <a:off x="8904387" y="7477125"/>
            <a:ext cx="57998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PROTEIN</a:t>
            </a:r>
            <a:endParaRPr lang="en-US" sz="825" dirty="0"/>
          </a:p>
        </p:txBody>
      </p:sp>
      <p:sp>
        <p:nvSpPr>
          <p:cNvPr id="52" name="Text 48"/>
          <p:cNvSpPr/>
          <p:nvPr/>
        </p:nvSpPr>
        <p:spPr>
          <a:xfrm>
            <a:off x="8904387" y="7639050"/>
            <a:ext cx="5799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22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53" name="Shape 49"/>
          <p:cNvSpPr/>
          <p:nvPr/>
        </p:nvSpPr>
        <p:spPr>
          <a:xfrm>
            <a:off x="8904387" y="7943850"/>
            <a:ext cx="503783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54" name="Shape 50"/>
          <p:cNvSpPr/>
          <p:nvPr/>
        </p:nvSpPr>
        <p:spPr>
          <a:xfrm>
            <a:off x="8904387" y="7943850"/>
            <a:ext cx="352574" cy="28575"/>
          </a:xfrm>
          <a:prstGeom prst="rect">
            <a:avLst/>
          </a:prstGeom>
          <a:solidFill>
            <a:srgbClr val="3A6B3F"/>
          </a:solidFill>
          <a:ln/>
        </p:spPr>
      </p:sp>
      <p:sp>
        <p:nvSpPr>
          <p:cNvPr id="55" name="Shape 51"/>
          <p:cNvSpPr/>
          <p:nvPr/>
        </p:nvSpPr>
        <p:spPr>
          <a:xfrm>
            <a:off x="9617720" y="7343775"/>
            <a:ext cx="593080" cy="762000"/>
          </a:xfrm>
          <a:prstGeom prst="roundRect">
            <a:avLst>
              <a:gd name="adj" fmla="val 22484"/>
            </a:avLst>
          </a:prstGeom>
          <a:solidFill>
            <a:srgbClr val="FAF8F5"/>
          </a:solidFill>
          <a:ln/>
        </p:spPr>
      </p:sp>
      <p:sp>
        <p:nvSpPr>
          <p:cNvPr id="56" name="Text 52"/>
          <p:cNvSpPr/>
          <p:nvPr/>
        </p:nvSpPr>
        <p:spPr>
          <a:xfrm>
            <a:off x="9732020" y="7477125"/>
            <a:ext cx="4406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FAT</a:t>
            </a:r>
            <a:endParaRPr lang="en-US" sz="825" dirty="0"/>
          </a:p>
        </p:txBody>
      </p:sp>
      <p:sp>
        <p:nvSpPr>
          <p:cNvPr id="57" name="Text 53"/>
          <p:cNvSpPr/>
          <p:nvPr/>
        </p:nvSpPr>
        <p:spPr>
          <a:xfrm>
            <a:off x="9732020" y="7639050"/>
            <a:ext cx="4406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58" name="Shape 54"/>
          <p:cNvSpPr/>
          <p:nvPr/>
        </p:nvSpPr>
        <p:spPr>
          <a:xfrm>
            <a:off x="9732020" y="7943850"/>
            <a:ext cx="364480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59" name="Shape 55"/>
          <p:cNvSpPr/>
          <p:nvPr/>
        </p:nvSpPr>
        <p:spPr>
          <a:xfrm>
            <a:off x="9732020" y="7943850"/>
            <a:ext cx="255091" cy="28575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60" name="Shape 56"/>
          <p:cNvSpPr/>
          <p:nvPr/>
        </p:nvSpPr>
        <p:spPr>
          <a:xfrm>
            <a:off x="8077200" y="8277225"/>
            <a:ext cx="2133600" cy="476250"/>
          </a:xfrm>
          <a:prstGeom prst="roundRect">
            <a:avLst>
              <a:gd name="adj" fmla="val 32000"/>
            </a:avLst>
          </a:prstGeom>
          <a:solidFill>
            <a:srgbClr val="0A0A0A"/>
          </a:solidFill>
          <a:ln/>
        </p:spPr>
      </p:sp>
      <p:sp>
        <p:nvSpPr>
          <p:cNvPr id="61" name="Text 57"/>
          <p:cNvSpPr/>
          <p:nvPr/>
        </p:nvSpPr>
        <p:spPr>
          <a:xfrm>
            <a:off x="8191500" y="8429625"/>
            <a:ext cx="19050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 to today</a:t>
            </a:r>
            <a:endParaRPr lang="en-US" sz="1125" dirty="0"/>
          </a:p>
        </p:txBody>
      </p:sp>
      <p:sp>
        <p:nvSpPr>
          <p:cNvPr id="62" name="Shape 58"/>
          <p:cNvSpPr/>
          <p:nvPr/>
        </p:nvSpPr>
        <p:spPr>
          <a:xfrm>
            <a:off x="7955459" y="8467725"/>
            <a:ext cx="342900" cy="342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3" name="Text 59"/>
          <p:cNvSpPr/>
          <p:nvPr/>
        </p:nvSpPr>
        <p:spPr>
          <a:xfrm>
            <a:off x="7917359" y="846772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</a:t>
            </a:r>
            <a:endParaRPr lang="en-US" sz="1350" dirty="0"/>
          </a:p>
        </p:txBody>
      </p:sp>
      <p:sp>
        <p:nvSpPr>
          <p:cNvPr id="64" name="Text 60"/>
          <p:cNvSpPr/>
          <p:nvPr/>
        </p:nvSpPr>
        <p:spPr>
          <a:xfrm>
            <a:off x="8393609" y="8391525"/>
            <a:ext cx="197688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Recognize</a:t>
            </a:r>
            <a:endParaRPr lang="en-US" sz="3300" dirty="0"/>
          </a:p>
        </p:txBody>
      </p:sp>
      <p:sp>
        <p:nvSpPr>
          <p:cNvPr id="65" name="Text 61"/>
          <p:cNvSpPr/>
          <p:nvPr/>
        </p:nvSpPr>
        <p:spPr>
          <a:xfrm>
            <a:off x="7083743" y="9001125"/>
            <a:ext cx="412051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On-device model identifies the dish, components, and portion. Two seconds, works offline.</a:t>
            </a:r>
            <a:endParaRPr lang="en-US" sz="2100" dirty="0"/>
          </a:p>
        </p:txBody>
      </p:sp>
      <p:sp>
        <p:nvSpPr>
          <p:cNvPr id="66" name="Shape 62"/>
          <p:cNvSpPr/>
          <p:nvPr/>
        </p:nvSpPr>
        <p:spPr>
          <a:xfrm>
            <a:off x="13201650" y="2466975"/>
            <a:ext cx="2857500" cy="5715000"/>
          </a:xfrm>
          <a:prstGeom prst="roundRect">
            <a:avLst>
              <a:gd name="adj" fmla="val 17333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67" name="Shape 63"/>
          <p:cNvSpPr/>
          <p:nvPr/>
        </p:nvSpPr>
        <p:spPr>
          <a:xfrm>
            <a:off x="13296900" y="2562225"/>
            <a:ext cx="2667000" cy="5524500"/>
          </a:xfrm>
          <a:prstGeom prst="roundRect">
            <a:avLst>
              <a:gd name="adj" fmla="val 15714"/>
            </a:avLst>
          </a:prstGeom>
          <a:solidFill>
            <a:srgbClr val="FAF8F5"/>
          </a:solidFill>
          <a:ln/>
        </p:spPr>
      </p:sp>
      <p:sp>
        <p:nvSpPr>
          <p:cNvPr id="68" name="Shape 64"/>
          <p:cNvSpPr/>
          <p:nvPr/>
        </p:nvSpPr>
        <p:spPr>
          <a:xfrm>
            <a:off x="14106525" y="26955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9" name="Text 65"/>
          <p:cNvSpPr/>
          <p:nvPr/>
        </p:nvSpPr>
        <p:spPr>
          <a:xfrm>
            <a:off x="13582650" y="2933700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70" name="Shape 66"/>
          <p:cNvSpPr/>
          <p:nvPr/>
        </p:nvSpPr>
        <p:spPr>
          <a:xfrm>
            <a:off x="15478125" y="2952750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5501938" y="2976563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72" name="Shape 68"/>
          <p:cNvSpPr/>
          <p:nvPr/>
        </p:nvSpPr>
        <p:spPr>
          <a:xfrm>
            <a:off x="13296900" y="2562225"/>
            <a:ext cx="2667000" cy="619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69"/>
          <p:cNvSpPr/>
          <p:nvPr/>
        </p:nvSpPr>
        <p:spPr>
          <a:xfrm>
            <a:off x="13525500" y="3419475"/>
            <a:ext cx="228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TODAY · TUE</a:t>
            </a:r>
            <a:endParaRPr lang="en-US" sz="975" dirty="0"/>
          </a:p>
        </p:txBody>
      </p:sp>
      <p:sp>
        <p:nvSpPr>
          <p:cNvPr id="74" name="Text 70"/>
          <p:cNvSpPr/>
          <p:nvPr/>
        </p:nvSpPr>
        <p:spPr>
          <a:xfrm>
            <a:off x="13525500" y="3629025"/>
            <a:ext cx="126637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spc="-12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1340</a:t>
            </a:r>
            <a:endParaRPr lang="en-US" sz="4050" dirty="0"/>
          </a:p>
        </p:txBody>
      </p:sp>
      <p:sp>
        <p:nvSpPr>
          <p:cNvPr id="75" name="Text 71"/>
          <p:cNvSpPr/>
          <p:nvPr/>
        </p:nvSpPr>
        <p:spPr>
          <a:xfrm>
            <a:off x="14791879" y="3914775"/>
            <a:ext cx="8995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2100 kcal</a:t>
            </a:r>
            <a:endParaRPr lang="en-US" sz="1350" dirty="0"/>
          </a:p>
        </p:txBody>
      </p:sp>
      <p:sp>
        <p:nvSpPr>
          <p:cNvPr id="76" name="Shape 72"/>
          <p:cNvSpPr/>
          <p:nvPr/>
        </p:nvSpPr>
        <p:spPr>
          <a:xfrm>
            <a:off x="13525500" y="4276725"/>
            <a:ext cx="2209800" cy="57150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77" name="Shape 73"/>
          <p:cNvSpPr/>
          <p:nvPr/>
        </p:nvSpPr>
        <p:spPr>
          <a:xfrm>
            <a:off x="13525500" y="4276725"/>
            <a:ext cx="1409998" cy="57150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78" name="Shape 74"/>
          <p:cNvSpPr/>
          <p:nvPr/>
        </p:nvSpPr>
        <p:spPr>
          <a:xfrm>
            <a:off x="13525500" y="46958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/>
        </p:spPr>
      </p:sp>
      <p:pic>
        <p:nvPicPr>
          <p:cNvPr id="7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4075" y="4724400"/>
            <a:ext cx="476250" cy="476250"/>
          </a:xfrm>
          <a:prstGeom prst="rect">
            <a:avLst/>
          </a:prstGeom>
        </p:spPr>
      </p:pic>
      <p:sp>
        <p:nvSpPr>
          <p:cNvPr id="80" name="Text 75"/>
          <p:cNvSpPr/>
          <p:nvPr/>
        </p:nvSpPr>
        <p:spPr>
          <a:xfrm>
            <a:off x="14192250" y="4814888"/>
            <a:ext cx="11986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BREAKFAST</a:t>
            </a:r>
            <a:endParaRPr lang="en-US" sz="825" dirty="0"/>
          </a:p>
        </p:txBody>
      </p:sp>
      <p:sp>
        <p:nvSpPr>
          <p:cNvPr id="81" name="Text 76"/>
          <p:cNvSpPr/>
          <p:nvPr/>
        </p:nvSpPr>
        <p:spPr>
          <a:xfrm>
            <a:off x="14192250" y="4938713"/>
            <a:ext cx="11986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Hausa koko &amp; koose</a:t>
            </a:r>
            <a:endParaRPr lang="en-US" sz="1200" dirty="0"/>
          </a:p>
        </p:txBody>
      </p:sp>
      <p:sp>
        <p:nvSpPr>
          <p:cNvPr id="82" name="Text 77"/>
          <p:cNvSpPr/>
          <p:nvPr/>
        </p:nvSpPr>
        <p:spPr>
          <a:xfrm>
            <a:off x="15448062" y="4876800"/>
            <a:ext cx="3634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380</a:t>
            </a:r>
            <a:endParaRPr lang="en-US" sz="1200" dirty="0"/>
          </a:p>
        </p:txBody>
      </p:sp>
      <p:sp>
        <p:nvSpPr>
          <p:cNvPr id="83" name="Shape 78"/>
          <p:cNvSpPr/>
          <p:nvPr/>
        </p:nvSpPr>
        <p:spPr>
          <a:xfrm>
            <a:off x="13525500" y="5362575"/>
            <a:ext cx="220980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84" name="Shape 79"/>
          <p:cNvSpPr/>
          <p:nvPr/>
        </p:nvSpPr>
        <p:spPr>
          <a:xfrm>
            <a:off x="13525500" y="55054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/>
        </p:spPr>
      </p:sp>
      <p:pic>
        <p:nvPicPr>
          <p:cNvPr id="8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4075" y="5534025"/>
            <a:ext cx="476250" cy="476250"/>
          </a:xfrm>
          <a:prstGeom prst="rect">
            <a:avLst/>
          </a:prstGeom>
        </p:spPr>
      </p:pic>
      <p:sp>
        <p:nvSpPr>
          <p:cNvPr id="86" name="Text 80"/>
          <p:cNvSpPr/>
          <p:nvPr/>
        </p:nvSpPr>
        <p:spPr>
          <a:xfrm>
            <a:off x="14192250" y="5624513"/>
            <a:ext cx="11986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LUNCH</a:t>
            </a:r>
            <a:endParaRPr lang="en-US" sz="825" dirty="0"/>
          </a:p>
        </p:txBody>
      </p:sp>
      <p:sp>
        <p:nvSpPr>
          <p:cNvPr id="87" name="Text 81"/>
          <p:cNvSpPr/>
          <p:nvPr/>
        </p:nvSpPr>
        <p:spPr>
          <a:xfrm>
            <a:off x="14192250" y="5748338"/>
            <a:ext cx="11986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Waakye with shito</a:t>
            </a:r>
            <a:endParaRPr lang="en-US" sz="1200" dirty="0"/>
          </a:p>
        </p:txBody>
      </p:sp>
      <p:sp>
        <p:nvSpPr>
          <p:cNvPr id="88" name="Text 82"/>
          <p:cNvSpPr/>
          <p:nvPr/>
        </p:nvSpPr>
        <p:spPr>
          <a:xfrm>
            <a:off x="15448062" y="5686425"/>
            <a:ext cx="3634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720</a:t>
            </a:r>
            <a:endParaRPr lang="en-US" sz="1200" dirty="0"/>
          </a:p>
        </p:txBody>
      </p:sp>
      <p:sp>
        <p:nvSpPr>
          <p:cNvPr id="89" name="Shape 83"/>
          <p:cNvSpPr/>
          <p:nvPr/>
        </p:nvSpPr>
        <p:spPr>
          <a:xfrm>
            <a:off x="13525500" y="6172200"/>
            <a:ext cx="220980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0" name="Shape 84"/>
          <p:cNvSpPr/>
          <p:nvPr/>
        </p:nvSpPr>
        <p:spPr>
          <a:xfrm>
            <a:off x="13525500" y="63150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/>
        </p:spPr>
      </p:sp>
      <p:pic>
        <p:nvPicPr>
          <p:cNvPr id="9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4075" y="6343650"/>
            <a:ext cx="476250" cy="476250"/>
          </a:xfrm>
          <a:prstGeom prst="rect">
            <a:avLst/>
          </a:prstGeom>
        </p:spPr>
      </p:pic>
      <p:sp>
        <p:nvSpPr>
          <p:cNvPr id="92" name="Text 85"/>
          <p:cNvSpPr/>
          <p:nvPr/>
        </p:nvSpPr>
        <p:spPr>
          <a:xfrm>
            <a:off x="14192250" y="6434138"/>
            <a:ext cx="11986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SNACK</a:t>
            </a:r>
            <a:endParaRPr lang="en-US" sz="825" dirty="0"/>
          </a:p>
        </p:txBody>
      </p:sp>
      <p:sp>
        <p:nvSpPr>
          <p:cNvPr id="93" name="Text 86"/>
          <p:cNvSpPr/>
          <p:nvPr/>
        </p:nvSpPr>
        <p:spPr>
          <a:xfrm>
            <a:off x="14192250" y="6557963"/>
            <a:ext cx="11986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Kelewele</a:t>
            </a:r>
            <a:endParaRPr lang="en-US" sz="1200" dirty="0"/>
          </a:p>
        </p:txBody>
      </p:sp>
      <p:sp>
        <p:nvSpPr>
          <p:cNvPr id="94" name="Text 87"/>
          <p:cNvSpPr/>
          <p:nvPr/>
        </p:nvSpPr>
        <p:spPr>
          <a:xfrm>
            <a:off x="15448062" y="6496050"/>
            <a:ext cx="3634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240</a:t>
            </a:r>
            <a:endParaRPr lang="en-US" sz="1200" dirty="0"/>
          </a:p>
        </p:txBody>
      </p:sp>
      <p:sp>
        <p:nvSpPr>
          <p:cNvPr id="95" name="Shape 88"/>
          <p:cNvSpPr/>
          <p:nvPr/>
        </p:nvSpPr>
        <p:spPr>
          <a:xfrm>
            <a:off x="13895338" y="8467725"/>
            <a:ext cx="342900" cy="342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6" name="Text 89"/>
          <p:cNvSpPr/>
          <p:nvPr/>
        </p:nvSpPr>
        <p:spPr>
          <a:xfrm>
            <a:off x="13857238" y="846772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</a:t>
            </a:r>
            <a:endParaRPr lang="en-US" sz="1350" dirty="0"/>
          </a:p>
        </p:txBody>
      </p:sp>
      <p:sp>
        <p:nvSpPr>
          <p:cNvPr id="97" name="Text 90"/>
          <p:cNvSpPr/>
          <p:nvPr/>
        </p:nvSpPr>
        <p:spPr>
          <a:xfrm>
            <a:off x="14333488" y="8391525"/>
            <a:ext cx="107007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</a:t>
            </a:r>
            <a:endParaRPr lang="en-US" sz="3300" dirty="0"/>
          </a:p>
        </p:txBody>
      </p:sp>
      <p:sp>
        <p:nvSpPr>
          <p:cNvPr id="98" name="Text 91"/>
          <p:cNvSpPr/>
          <p:nvPr/>
        </p:nvSpPr>
        <p:spPr>
          <a:xfrm>
            <a:off x="12570143" y="9001125"/>
            <a:ext cx="412051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totals, macros, and trends — built around what Ghanaians actually eat all day.</a:t>
            </a:r>
            <a:endParaRPr lang="en-US" sz="2100" dirty="0"/>
          </a:p>
        </p:txBody>
      </p:sp>
      <p:sp>
        <p:nvSpPr>
          <p:cNvPr id="99" name="Text 92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06 / 12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DEFENSIBILITY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471612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four-layer database no one else is building.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276475"/>
            <a:ext cx="127539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Mainstream apps cannot retrofit this. It requires on-the-ground operations in Ghana — exactly what we are.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3743325"/>
            <a:ext cx="3771900" cy="4314825"/>
          </a:xfrm>
          <a:prstGeom prst="roundRect">
            <a:avLst>
              <a:gd name="adj" fmla="val 6061"/>
            </a:avLst>
          </a:prstGeom>
          <a:solidFill>
            <a:srgbClr val="FAF8F5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4086225"/>
            <a:ext cx="31786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LAYER 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85900" y="4514850"/>
            <a:ext cx="317868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Ingredient floor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85900" y="5857875"/>
            <a:ext cx="3178683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WAFCT 2019 — ~1,000 West African raw ingredients. Public, free, scientifically rigorous. Our nutritional bedrock.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19700" y="3743325"/>
            <a:ext cx="3771900" cy="4314825"/>
          </a:xfrm>
          <a:prstGeom prst="roundRect">
            <a:avLst>
              <a:gd name="adj" fmla="val 6061"/>
            </a:avLst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5562600" y="4086225"/>
            <a:ext cx="31786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LAYER 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562600" y="4514850"/>
            <a:ext cx="317868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Composite dish library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562600" y="5486400"/>
            <a:ext cx="3178683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500+ prepared Ghanaian dishes, with regional variants. Built with chefs and nutritionists in Accra, Kumasi, Tamale. Proprietary.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96400" y="3743325"/>
            <a:ext cx="3771900" cy="4314825"/>
          </a:xfrm>
          <a:prstGeom prst="roundRect">
            <a:avLst>
              <a:gd name="adj" fmla="val 6061"/>
            </a:avLst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9639300" y="4086225"/>
            <a:ext cx="31786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LAYER 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39300" y="4514850"/>
            <a:ext cx="317868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Vision dataset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639300" y="5486400"/>
            <a:ext cx="3178683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Tens of thousands of dish photos across lighting, plates, and portions. Labeled by Ghanaian annotators. Compounds with every user.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373100" y="3743325"/>
            <a:ext cx="3771900" cy="4314825"/>
          </a:xfrm>
          <a:prstGeom prst="roundRect">
            <a:avLst>
              <a:gd name="adj" fmla="val 6061"/>
            </a:avLst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0" y="4086225"/>
            <a:ext cx="31786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LAYER 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0" y="4514850"/>
            <a:ext cx="317868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Portion intelligence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3716000" y="5857875"/>
            <a:ext cx="3178683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Local portion vocabulary mapped to grams: "one ball", "half olonka", "small bowl". The thing nobody else has.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07 / 12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471612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25M-person market with the device in their pocket.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33675"/>
            <a:ext cx="75247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71800"/>
            <a:ext cx="2552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8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34.5M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3924300" y="3333750"/>
            <a:ext cx="48857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Population of Ghana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924300" y="3838575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DataReportal, Jan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4352925"/>
            <a:ext cx="75247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591050"/>
            <a:ext cx="2552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8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24.1M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3924300" y="4953000"/>
            <a:ext cx="48857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Internet users · 70% penetration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3924300" y="5457825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DataReportal, Jan 2024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5972175"/>
            <a:ext cx="75247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6210300"/>
            <a:ext cx="2552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8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~8M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3924300" y="6572250"/>
            <a:ext cx="488575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Urban smartphone users — our beachhead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3924300" y="7505700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Statista / GSMA, 2024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8020050"/>
            <a:ext cx="75247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8258175"/>
            <a:ext cx="2552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8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4.2M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3924300" y="8620125"/>
            <a:ext cx="48857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Ghanaians with type-2 diabetes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3924300" y="9124950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Statista / IDF, 2022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20250" y="2733675"/>
            <a:ext cx="7524750" cy="6991350"/>
          </a:xfrm>
          <a:prstGeom prst="roundRect">
            <a:avLst>
              <a:gd name="adj" fmla="val 3815"/>
            </a:avLst>
          </a:prstGeom>
          <a:solidFill>
            <a:srgbClr val="FA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9350" y="3152775"/>
            <a:ext cx="68871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BEACHHEAD → EXPANSION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39350" y="3562350"/>
            <a:ext cx="68871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~800k SOM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0039350" y="4133850"/>
            <a:ext cx="688714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Health-conscious urban Ghanaians, ages 22–45, with diabetes risk or weight-management goals — willing to pay GHS 30/mo.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039350" y="5400675"/>
            <a:ext cx="66865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5" name="Text 23"/>
          <p:cNvSpPr/>
          <p:nvPr/>
        </p:nvSpPr>
        <p:spPr>
          <a:xfrm>
            <a:off x="10039350" y="5619750"/>
            <a:ext cx="68871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~80M SAM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0039350" y="6191250"/>
            <a:ext cx="688714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West Africa expansion: Nigeria, Côte d'Ivoire, Senegal, Togo. Many shared dishes and ingredients — our database compounds.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039350" y="7458075"/>
            <a:ext cx="66865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8" name="Text 26"/>
          <p:cNvSpPr/>
          <p:nvPr/>
        </p:nvSpPr>
        <p:spPr>
          <a:xfrm>
            <a:off x="10039350" y="7677150"/>
            <a:ext cx="68871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Diaspora pull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10039350" y="8248650"/>
            <a:ext cx="688714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~3M Ghanaians abroad (US, UK, Canada, Germany) with disposable income and the same data gap. Free distribution channel via family.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08 / 12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COMPETITION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37350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Incumbents are global. We are local — by design.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409950"/>
            <a:ext cx="5058221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" name="Shape 3"/>
          <p:cNvSpPr/>
          <p:nvPr/>
        </p:nvSpPr>
        <p:spPr>
          <a:xfrm>
            <a:off x="6201221" y="2657475"/>
            <a:ext cx="2725787" cy="771525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6" name="Shape 4"/>
          <p:cNvSpPr/>
          <p:nvPr/>
        </p:nvSpPr>
        <p:spPr>
          <a:xfrm>
            <a:off x="6201221" y="3409950"/>
            <a:ext cx="2725787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6312735" y="2847975"/>
            <a:ext cx="25027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25" kern="0" dirty="0">
                <a:solidFill>
                  <a:srgbClr val="D462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ChopWise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927009" y="3409950"/>
            <a:ext cx="1745159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041309" y="2847975"/>
            <a:ext cx="151655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 AI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672167" y="3409950"/>
            <a:ext cx="3385542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10773784" y="2847975"/>
            <a:ext cx="31823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MyFitnessPal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4057709" y="3409950"/>
            <a:ext cx="3087588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14163796" y="2847975"/>
            <a:ext cx="28754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Cronometer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143000" y="420528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657600"/>
            <a:ext cx="52099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Recognizes Ghanaian dishes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01221" y="3429000"/>
            <a:ext cx="2725787" cy="785813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1221" y="420528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Text 16"/>
          <p:cNvSpPr/>
          <p:nvPr/>
        </p:nvSpPr>
        <p:spPr>
          <a:xfrm>
            <a:off x="6312735" y="3657600"/>
            <a:ext cx="250276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27009" y="420528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0" name="Text 18"/>
          <p:cNvSpPr/>
          <p:nvPr/>
        </p:nvSpPr>
        <p:spPr>
          <a:xfrm>
            <a:off x="9041309" y="3657600"/>
            <a:ext cx="15165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0672167" y="420528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2" name="Text 20"/>
          <p:cNvSpPr/>
          <p:nvPr/>
        </p:nvSpPr>
        <p:spPr>
          <a:xfrm>
            <a:off x="10773784" y="3657600"/>
            <a:ext cx="318230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4057709" y="420528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4" name="Text 22"/>
          <p:cNvSpPr/>
          <p:nvPr/>
        </p:nvSpPr>
        <p:spPr>
          <a:xfrm>
            <a:off x="14163796" y="3657600"/>
            <a:ext cx="287541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498633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4443413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Composite dish database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201221" y="4214813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28" name="Shape 26"/>
          <p:cNvSpPr/>
          <p:nvPr/>
        </p:nvSpPr>
        <p:spPr>
          <a:xfrm>
            <a:off x="6201221" y="498633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9" name="Text 27"/>
          <p:cNvSpPr/>
          <p:nvPr/>
        </p:nvSpPr>
        <p:spPr>
          <a:xfrm>
            <a:off x="6312735" y="4443413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27009" y="498633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1" name="Text 29"/>
          <p:cNvSpPr/>
          <p:nvPr/>
        </p:nvSpPr>
        <p:spPr>
          <a:xfrm>
            <a:off x="9041309" y="4443413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672167" y="498633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3" name="Text 31"/>
          <p:cNvSpPr/>
          <p:nvPr/>
        </p:nvSpPr>
        <p:spPr>
          <a:xfrm>
            <a:off x="10773784" y="4443413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4057709" y="498633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5" name="Text 33"/>
          <p:cNvSpPr/>
          <p:nvPr/>
        </p:nvSpPr>
        <p:spPr>
          <a:xfrm>
            <a:off x="14163796" y="4443413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3000" y="576738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5224463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Local portion vocabulary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6201221" y="4995863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39" name="Shape 37"/>
          <p:cNvSpPr/>
          <p:nvPr/>
        </p:nvSpPr>
        <p:spPr>
          <a:xfrm>
            <a:off x="6201221" y="576738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0" name="Text 38"/>
          <p:cNvSpPr/>
          <p:nvPr/>
        </p:nvSpPr>
        <p:spPr>
          <a:xfrm>
            <a:off x="6312735" y="5224463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27009" y="576738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2" name="Text 40"/>
          <p:cNvSpPr/>
          <p:nvPr/>
        </p:nvSpPr>
        <p:spPr>
          <a:xfrm>
            <a:off x="9041309" y="5224463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0672167" y="576738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4" name="Text 42"/>
          <p:cNvSpPr/>
          <p:nvPr/>
        </p:nvSpPr>
        <p:spPr>
          <a:xfrm>
            <a:off x="10773784" y="5224463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4057709" y="576738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6" name="Text 44"/>
          <p:cNvSpPr/>
          <p:nvPr/>
        </p:nvSpPr>
        <p:spPr>
          <a:xfrm>
            <a:off x="14163796" y="5224463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143000" y="654843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6005513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Works offline on 3G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6201221" y="5776913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50" name="Shape 48"/>
          <p:cNvSpPr/>
          <p:nvPr/>
        </p:nvSpPr>
        <p:spPr>
          <a:xfrm>
            <a:off x="6201221" y="654843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1" name="Text 49"/>
          <p:cNvSpPr/>
          <p:nvPr/>
        </p:nvSpPr>
        <p:spPr>
          <a:xfrm>
            <a:off x="6312735" y="6005513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927009" y="654843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3" name="Text 51"/>
          <p:cNvSpPr/>
          <p:nvPr/>
        </p:nvSpPr>
        <p:spPr>
          <a:xfrm>
            <a:off x="9041309" y="6005513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0672167" y="654843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5" name="Text 53"/>
          <p:cNvSpPr/>
          <p:nvPr/>
        </p:nvSpPr>
        <p:spPr>
          <a:xfrm>
            <a:off x="10773784" y="6005513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4057709" y="654843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7" name="Text 55"/>
          <p:cNvSpPr/>
          <p:nvPr/>
        </p:nvSpPr>
        <p:spPr>
          <a:xfrm>
            <a:off x="14163796" y="6005513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143000" y="732948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9" name="Text 57"/>
          <p:cNvSpPr/>
          <p:nvPr/>
        </p:nvSpPr>
        <p:spPr>
          <a:xfrm>
            <a:off x="1143000" y="6786563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Mobile-money payment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6201221" y="6557963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61" name="Shape 59"/>
          <p:cNvSpPr/>
          <p:nvPr/>
        </p:nvSpPr>
        <p:spPr>
          <a:xfrm>
            <a:off x="6201221" y="732948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2" name="Text 60"/>
          <p:cNvSpPr/>
          <p:nvPr/>
        </p:nvSpPr>
        <p:spPr>
          <a:xfrm>
            <a:off x="6312735" y="6786563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927009" y="732948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4" name="Text 62"/>
          <p:cNvSpPr/>
          <p:nvPr/>
        </p:nvSpPr>
        <p:spPr>
          <a:xfrm>
            <a:off x="9041309" y="6786563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0672167" y="732948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6" name="Text 64"/>
          <p:cNvSpPr/>
          <p:nvPr/>
        </p:nvSpPr>
        <p:spPr>
          <a:xfrm>
            <a:off x="10773784" y="6786563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4057709" y="732948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8" name="Text 66"/>
          <p:cNvSpPr/>
          <p:nvPr/>
        </p:nvSpPr>
        <p:spPr>
          <a:xfrm>
            <a:off x="14163796" y="6786563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143000" y="8110537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0" name="Text 68"/>
          <p:cNvSpPr/>
          <p:nvPr/>
        </p:nvSpPr>
        <p:spPr>
          <a:xfrm>
            <a:off x="1143000" y="7567612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Built in Ghana</a:t>
            </a:r>
            <a:endParaRPr lang="en-US" sz="2100" dirty="0"/>
          </a:p>
        </p:txBody>
      </p:sp>
      <p:sp>
        <p:nvSpPr>
          <p:cNvPr id="71" name="Shape 69"/>
          <p:cNvSpPr/>
          <p:nvPr/>
        </p:nvSpPr>
        <p:spPr>
          <a:xfrm>
            <a:off x="6201221" y="7339012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72" name="Shape 70"/>
          <p:cNvSpPr/>
          <p:nvPr/>
        </p:nvSpPr>
        <p:spPr>
          <a:xfrm>
            <a:off x="6201221" y="8110537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3" name="Text 71"/>
          <p:cNvSpPr/>
          <p:nvPr/>
        </p:nvSpPr>
        <p:spPr>
          <a:xfrm>
            <a:off x="6312735" y="7567612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927009" y="8110537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5" name="Text 73"/>
          <p:cNvSpPr/>
          <p:nvPr/>
        </p:nvSpPr>
        <p:spPr>
          <a:xfrm>
            <a:off x="9041309" y="7567612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76" name="Shape 74"/>
          <p:cNvSpPr/>
          <p:nvPr/>
        </p:nvSpPr>
        <p:spPr>
          <a:xfrm>
            <a:off x="10672167" y="8110537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7" name="Text 75"/>
          <p:cNvSpPr/>
          <p:nvPr/>
        </p:nvSpPr>
        <p:spPr>
          <a:xfrm>
            <a:off x="10773784" y="7567612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78" name="Shape 76"/>
          <p:cNvSpPr/>
          <p:nvPr/>
        </p:nvSpPr>
        <p:spPr>
          <a:xfrm>
            <a:off x="14057709" y="8110537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9" name="Text 77"/>
          <p:cNvSpPr/>
          <p:nvPr/>
        </p:nvSpPr>
        <p:spPr>
          <a:xfrm>
            <a:off x="14163796" y="7567612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80" name="Text 78"/>
          <p:cNvSpPr/>
          <p:nvPr/>
        </p:nvSpPr>
        <p:spPr>
          <a:xfrm>
            <a:off x="1143000" y="8467725"/>
            <a:ext cx="1471612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 AI, MyFitnessPal and Cronometer are excellent products — for the markets they were built for. None has a strategic reason to invest in a Ghana-specific database.</a:t>
            </a:r>
            <a:endParaRPr lang="en-US" sz="2100" dirty="0"/>
          </a:p>
        </p:txBody>
      </p:sp>
      <p:sp>
        <p:nvSpPr>
          <p:cNvPr id="81" name="Text 79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09 / 12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PLAN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648206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Beachhead in Accra. Expand in compounding waves.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3367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19425"/>
            <a:ext cx="10072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43636" y="3038475"/>
            <a:ext cx="12047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Months 0–6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3467100"/>
            <a:ext cx="51800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6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Accra power-user beta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42862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41529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 1,000 health-conscious users in Accra and Tema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51625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50292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Free during beta — collect labeled data + feedback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60388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1409700" y="59055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Partner with two diabetes clinics for clinical-validation pilot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629400" y="273367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019425"/>
            <a:ext cx="10072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PHASE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17225" y="3038475"/>
            <a:ext cx="13175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Months 6–12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3467100"/>
            <a:ext cx="51800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6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Public launch · Ghana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629400" y="42862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6896100" y="41529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Freemium with GHS 30/mo Pro tier (mobile-money native)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629400" y="51625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6896100" y="50292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Influencer partnerships with Ghanaian fitness &amp; food creators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629400" y="60388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6896100" y="59055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B2B pilots: corporate wellness, NHIA-affiliated clinics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115800" y="273367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12115800" y="3019425"/>
            <a:ext cx="10072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PHASE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67832" y="3038475"/>
            <a:ext cx="753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Year 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115800" y="3467100"/>
            <a:ext cx="51800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6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West Africa expansion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2115800" y="42862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12382500" y="41529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Nigeria first — shared dishes, 220M population, Naira mobile money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2115800" y="51625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0" y="5029200"/>
            <a:ext cx="49053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Côte d’Ivoire and Senegal follow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2115800" y="5686425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3" name="Text 31"/>
          <p:cNvSpPr/>
          <p:nvPr/>
        </p:nvSpPr>
        <p:spPr>
          <a:xfrm>
            <a:off x="12382500" y="5553075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Diaspora app via App Store and Play Store · USD pricing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10 / 12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648206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research to revenue in 18 months.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43100" y="3419475"/>
            <a:ext cx="14401800" cy="1905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2439144" y="2886075"/>
            <a:ext cx="4250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18321" y="3352800"/>
            <a:ext cx="266700" cy="266700"/>
          </a:xfrm>
          <a:prstGeom prst="ellipse">
            <a:avLst/>
          </a:prstGeom>
          <a:solidFill>
            <a:srgbClr val="D4622A"/>
          </a:solidFill>
          <a:ln w="28575">
            <a:solidFill>
              <a:srgbClr val="D46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6063" y="3924300"/>
            <a:ext cx="26913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Concept + research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76224" y="4400550"/>
            <a:ext cx="29510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WAFCT mapped · 80 dishes catalogued · founder team formed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10808" y="2886075"/>
            <a:ext cx="7739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Q3 '26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764411" y="335280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6160" y="3924300"/>
            <a:ext cx="1803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Closed alpha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22314" y="4400550"/>
            <a:ext cx="29510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iOS-first build · 200 dishes · first clinic partnership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6898" y="2886075"/>
            <a:ext cx="7739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Q1 '27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10501" y="335280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6849" y="3924300"/>
            <a:ext cx="2514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Public beta · Accra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68404" y="4400550"/>
            <a:ext cx="29510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1k users · 500 dishes · vision model v1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02988" y="2886075"/>
            <a:ext cx="7739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Q3 '27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256591" y="335280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56290" y="3924300"/>
            <a:ext cx="26674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Paid launch · Ghana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14494" y="4400550"/>
            <a:ext cx="29510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Mobile-money billing · Android · 10k MAU target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249227" y="2886075"/>
            <a:ext cx="7739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Q2 '28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5502830" y="335280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23616" y="3924300"/>
            <a:ext cx="102497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Nigeria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60582" y="4400550"/>
            <a:ext cx="29511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Naira + Paystack · regional dish library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11 / 12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000250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533650"/>
            <a:ext cx="7750492" cy="202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0" b="1" spc="-66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$500k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43000" y="4714875"/>
            <a:ext cx="775049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12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Pre-seed round · 18 months runway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43000" y="5591175"/>
            <a:ext cx="686752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 build the world's first calorie-tracking app for Ghanaian cuisine — and the data moat that makes it the default for West Africa.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7334250"/>
            <a:ext cx="75247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7648575"/>
            <a:ext cx="77504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FFFFFF">
                    <a:alpha val="5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LET'S TALK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7981950"/>
            <a:ext cx="775049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hello@chopwise.app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620250" y="2938463"/>
            <a:ext cx="77504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FFFFF">
                    <a:alpha val="5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USE OF FUNDS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20250" y="3481388"/>
            <a:ext cx="39502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Vision model + dish dataset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6548943" y="3481388"/>
            <a:ext cx="67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12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45 %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620250" y="3957638"/>
            <a:ext cx="752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20250" y="3957638"/>
            <a:ext cx="3386138" cy="57150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0" y="4090987"/>
            <a:ext cx="77504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Annotators, compute, dish-cataloguing field 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20250" y="4557713"/>
            <a:ext cx="251385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team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6548943" y="4557713"/>
            <a:ext cx="67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12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30 %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620250" y="5033963"/>
            <a:ext cx="752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620250" y="5033963"/>
            <a:ext cx="2257425" cy="57150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0" y="5167313"/>
            <a:ext cx="77504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Two mobile engineers, one ML engineer, 18 months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20250" y="5634038"/>
            <a:ext cx="35062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Beta operations + clinics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6548943" y="5634038"/>
            <a:ext cx="67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12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15 %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620250" y="6110288"/>
            <a:ext cx="752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620250" y="6110288"/>
            <a:ext cx="1128713" cy="57150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4" name="Text 22"/>
          <p:cNvSpPr/>
          <p:nvPr/>
        </p:nvSpPr>
        <p:spPr>
          <a:xfrm>
            <a:off x="9620250" y="6243638"/>
            <a:ext cx="77504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 research, two clinic pilots, support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20250" y="6710363"/>
            <a:ext cx="25623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Runway + reserve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6548943" y="6710363"/>
            <a:ext cx="67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12" kern="0" dirty="0">
                <a:solidFill>
                  <a:srgbClr val="D4622A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10 %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620250" y="7186613"/>
            <a:ext cx="752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620250" y="7186613"/>
            <a:ext cx="752475" cy="57150"/>
          </a:xfrm>
          <a:prstGeom prst="rect">
            <a:avLst/>
          </a:prstGeom>
          <a:solidFill>
            <a:srgbClr val="D4622A"/>
          </a:solidFill>
          <a:ln/>
        </p:spPr>
      </p:sp>
      <p:sp>
        <p:nvSpPr>
          <p:cNvPr id="29" name="Text 27"/>
          <p:cNvSpPr/>
          <p:nvPr/>
        </p:nvSpPr>
        <p:spPr>
          <a:xfrm>
            <a:off x="9620250" y="7319963"/>
            <a:ext cx="77504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Legal, infrastructure, working capital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4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12 / 12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2026-04-29T01:18:26Z</dcterms:created>
  <dcterms:modified xsi:type="dcterms:W3CDTF">2026-04-29T01:18:26Z</dcterms:modified>
</cp:coreProperties>
</file>